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1.png"/><Relationship Id="rId11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1.png"/><Relationship Id="rId11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 hidden="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1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2" name="Google Shape;18;p1" hidden="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4" name="TextBox 2" hidden="1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20;p2"/>
          <p:cNvSpPr/>
          <p:nvPr/>
        </p:nvSpPr>
        <p:spPr>
          <a:xfrm>
            <a:off x="0" y="-166320"/>
            <a:ext cx="12191760" cy="4974840"/>
          </a:xfrm>
          <a:prstGeom prst="rect">
            <a:avLst/>
          </a:prstGeom>
          <a:solidFill>
            <a:srgbClr val="a9d7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333440"/>
            <a:ext cx="9143640" cy="22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23;p2"/>
          <p:cNvSpPr/>
          <p:nvPr/>
        </p:nvSpPr>
        <p:spPr>
          <a:xfrm>
            <a:off x="0" y="325800"/>
            <a:ext cx="12191760" cy="6818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8" name="Google Shape;24;p2"/>
          <p:cNvSpPr/>
          <p:nvPr/>
        </p:nvSpPr>
        <p:spPr>
          <a:xfrm>
            <a:off x="0" y="3549600"/>
            <a:ext cx="12191760" cy="176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9" name="Google Shape;25;p2"/>
          <p:cNvSpPr/>
          <p:nvPr/>
        </p:nvSpPr>
        <p:spPr>
          <a:xfrm>
            <a:off x="0" y="201240"/>
            <a:ext cx="12191760" cy="176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0" name="Google Shape;28;p2"/>
          <p:cNvSpPr/>
          <p:nvPr/>
        </p:nvSpPr>
        <p:spPr>
          <a:xfrm>
            <a:off x="4844160" y="5463000"/>
            <a:ext cx="1691280" cy="8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4</a:t>
            </a: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-1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6</a:t>
            </a: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Mai, </a:t>
            </a: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202</a:t>
            </a:r>
            <a:r>
              <a:rPr b="1" lang="ro-RO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Google Shape;29;p2"/>
          <p:cNvCxnSpPr/>
          <p:nvPr/>
        </p:nvCxnSpPr>
        <p:spPr>
          <a:xfrm>
            <a:off x="4817520" y="5552280"/>
            <a:ext cx="360" cy="7203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pic>
        <p:nvPicPr>
          <p:cNvPr id="12" name="Picture 2" descr="Universitatea Tehnică A Moldovei"/>
          <p:cNvPicPr/>
          <p:nvPr/>
        </p:nvPicPr>
        <p:blipFill>
          <a:blip r:embed="rId2"/>
          <a:stretch/>
        </p:blipFill>
        <p:spPr>
          <a:xfrm>
            <a:off x="37224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4" descr="sigla utm fff"/>
          <p:cNvPicPr/>
          <p:nvPr/>
        </p:nvPicPr>
        <p:blipFill>
          <a:blip r:embed="rId3"/>
          <a:stretch/>
        </p:blipFill>
        <p:spPr>
          <a:xfrm>
            <a:off x="181908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Box 47"/>
          <p:cNvSpPr/>
          <p:nvPr/>
        </p:nvSpPr>
        <p:spPr>
          <a:xfrm>
            <a:off x="233640" y="5589360"/>
            <a:ext cx="457164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o-RO" sz="20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</a:t>
            </a:r>
            <a:r>
              <a:rPr b="1" lang="en-US" sz="20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 </a:t>
            </a:r>
            <a:r>
              <a:rPr b="1" lang="ro-RO" sz="20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tehnico-științifică</a:t>
            </a:r>
            <a:r>
              <a:rPr b="1" lang="en-US" sz="20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 </a:t>
            </a:r>
            <a:br>
              <a:rPr sz="1800"/>
            </a:br>
            <a:r>
              <a:rPr b="1" lang="en-US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ro-RO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</a:t>
            </a:r>
            <a:r>
              <a:rPr b="1" lang="en-US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, </a:t>
            </a:r>
            <a:r>
              <a:rPr b="1" lang="ro-RO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masteranzilor</a:t>
            </a:r>
            <a:r>
              <a:rPr b="1" lang="en-US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 </a:t>
            </a:r>
            <a:r>
              <a:rPr b="1" lang="ro-RO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și</a:t>
            </a:r>
            <a:r>
              <a:rPr b="1" lang="en-US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 </a:t>
            </a:r>
            <a:r>
              <a:rPr b="1" lang="ro-RO" sz="1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doctoranzilor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Picture 2" descr="Universitatea Tehnică A Moldovei"/>
          <p:cNvPicPr/>
          <p:nvPr/>
        </p:nvPicPr>
        <p:blipFill>
          <a:blip r:embed="rId4"/>
          <a:stretch/>
        </p:blipFill>
        <p:spPr>
          <a:xfrm>
            <a:off x="276120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4" descr="sigla utm fff"/>
          <p:cNvPicPr/>
          <p:nvPr/>
        </p:nvPicPr>
        <p:blipFill>
          <a:blip r:embed="rId5"/>
          <a:stretch/>
        </p:blipFill>
        <p:spPr>
          <a:xfrm>
            <a:off x="420804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2" descr="Universitatea Tehnică A Moldovei"/>
          <p:cNvPicPr/>
          <p:nvPr/>
        </p:nvPicPr>
        <p:blipFill>
          <a:blip r:embed="rId6"/>
          <a:stretch/>
        </p:blipFill>
        <p:spPr>
          <a:xfrm>
            <a:off x="515016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4" descr="sigla utm fff"/>
          <p:cNvPicPr/>
          <p:nvPr/>
        </p:nvPicPr>
        <p:blipFill>
          <a:blip r:embed="rId7"/>
          <a:stretch/>
        </p:blipFill>
        <p:spPr>
          <a:xfrm>
            <a:off x="659700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2" descr="Universitatea Tehnică A Moldovei"/>
          <p:cNvPicPr/>
          <p:nvPr/>
        </p:nvPicPr>
        <p:blipFill>
          <a:blip r:embed="rId8"/>
          <a:stretch/>
        </p:blipFill>
        <p:spPr>
          <a:xfrm>
            <a:off x="753912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4" descr="sigla utm fff"/>
          <p:cNvPicPr/>
          <p:nvPr/>
        </p:nvPicPr>
        <p:blipFill>
          <a:blip r:embed="rId9"/>
          <a:stretch/>
        </p:blipFill>
        <p:spPr>
          <a:xfrm>
            <a:off x="898596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2" descr="Universitatea Tehnică A Moldovei"/>
          <p:cNvPicPr/>
          <p:nvPr/>
        </p:nvPicPr>
        <p:blipFill>
          <a:blip r:embed="rId10"/>
          <a:stretch/>
        </p:blipFill>
        <p:spPr>
          <a:xfrm>
            <a:off x="992808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4" descr="sigla utm fff"/>
          <p:cNvPicPr/>
          <p:nvPr/>
        </p:nvPicPr>
        <p:blipFill>
          <a:blip r:embed="rId11"/>
          <a:stretch/>
        </p:blipFill>
        <p:spPr>
          <a:xfrm>
            <a:off x="1137492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4" descr="Logo_UTM_horizontal - Chisinau Maker Faire"/>
          <p:cNvPicPr/>
          <p:nvPr/>
        </p:nvPicPr>
        <p:blipFill>
          <a:blip r:embed="rId12"/>
          <a:stretch/>
        </p:blipFill>
        <p:spPr>
          <a:xfrm>
            <a:off x="6848640" y="5324040"/>
            <a:ext cx="379188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(with focus section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26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27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29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2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3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954F0F-249A-4D64-943B-54C9E4F68DF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419720" y="1506600"/>
            <a:ext cx="716724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604800" y="1506600"/>
            <a:ext cx="343332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37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38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40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43;p4"/>
          <p:cNvSpPr/>
          <p:nvPr/>
        </p:nvSpPr>
        <p:spPr>
          <a:xfrm>
            <a:off x="254880" y="262800"/>
            <a:ext cx="11682720" cy="6332040"/>
          </a:xfrm>
          <a:prstGeom prst="rect">
            <a:avLst/>
          </a:prstGeom>
          <a:solidFill>
            <a:srgbClr val="a8d8e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42" name="Google Shape;44;p4"/>
          <p:cNvSpPr/>
          <p:nvPr/>
        </p:nvSpPr>
        <p:spPr>
          <a:xfrm>
            <a:off x="0" y="0"/>
            <a:ext cx="12191760" cy="2334960"/>
          </a:xfrm>
          <a:prstGeom prst="rect">
            <a:avLst/>
          </a:prstGeom>
          <a:solidFill>
            <a:srgbClr val="a9d7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Google Shape;47;p4"/>
          <p:cNvCxnSpPr/>
          <p:nvPr/>
        </p:nvCxnSpPr>
        <p:spPr>
          <a:xfrm>
            <a:off x="0" y="2176200"/>
            <a:ext cx="1219212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E1295E-9717-4732-AF1C-182400D7F43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Google Shape;23;p2"/>
          <p:cNvSpPr/>
          <p:nvPr/>
        </p:nvSpPr>
        <p:spPr>
          <a:xfrm>
            <a:off x="0" y="325800"/>
            <a:ext cx="12191760" cy="6818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50" name="Google Shape;25;p2"/>
          <p:cNvSpPr/>
          <p:nvPr/>
        </p:nvSpPr>
        <p:spPr>
          <a:xfrm>
            <a:off x="0" y="201240"/>
            <a:ext cx="12191760" cy="176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pic>
        <p:nvPicPr>
          <p:cNvPr id="51" name="Picture 2" descr="Universitatea Tehnică A Moldovei"/>
          <p:cNvPicPr/>
          <p:nvPr/>
        </p:nvPicPr>
        <p:blipFill>
          <a:blip r:embed="rId2"/>
          <a:stretch/>
        </p:blipFill>
        <p:spPr>
          <a:xfrm>
            <a:off x="37224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4" descr="sigla utm fff"/>
          <p:cNvPicPr/>
          <p:nvPr/>
        </p:nvPicPr>
        <p:blipFill>
          <a:blip r:embed="rId3"/>
          <a:stretch/>
        </p:blipFill>
        <p:spPr>
          <a:xfrm>
            <a:off x="181908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2" descr="Universitatea Tehnică A Moldovei"/>
          <p:cNvPicPr/>
          <p:nvPr/>
        </p:nvPicPr>
        <p:blipFill>
          <a:blip r:embed="rId4"/>
          <a:stretch/>
        </p:blipFill>
        <p:spPr>
          <a:xfrm>
            <a:off x="276120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Picture 4" descr="sigla utm fff"/>
          <p:cNvPicPr/>
          <p:nvPr/>
        </p:nvPicPr>
        <p:blipFill>
          <a:blip r:embed="rId5"/>
          <a:stretch/>
        </p:blipFill>
        <p:spPr>
          <a:xfrm>
            <a:off x="420804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Picture 2" descr="Universitatea Tehnică A Moldovei"/>
          <p:cNvPicPr/>
          <p:nvPr/>
        </p:nvPicPr>
        <p:blipFill>
          <a:blip r:embed="rId6"/>
          <a:stretch/>
        </p:blipFill>
        <p:spPr>
          <a:xfrm>
            <a:off x="515016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Picture 4" descr="sigla utm fff"/>
          <p:cNvPicPr/>
          <p:nvPr/>
        </p:nvPicPr>
        <p:blipFill>
          <a:blip r:embed="rId7"/>
          <a:stretch/>
        </p:blipFill>
        <p:spPr>
          <a:xfrm>
            <a:off x="659700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2" descr="Universitatea Tehnică A Moldovei"/>
          <p:cNvPicPr/>
          <p:nvPr/>
        </p:nvPicPr>
        <p:blipFill>
          <a:blip r:embed="rId8"/>
          <a:stretch/>
        </p:blipFill>
        <p:spPr>
          <a:xfrm>
            <a:off x="753912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4" descr="sigla utm fff"/>
          <p:cNvPicPr/>
          <p:nvPr/>
        </p:nvPicPr>
        <p:blipFill>
          <a:blip r:embed="rId9"/>
          <a:stretch/>
        </p:blipFill>
        <p:spPr>
          <a:xfrm>
            <a:off x="898596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Picture 2" descr="Universitatea Tehnică A Moldovei"/>
          <p:cNvPicPr/>
          <p:nvPr/>
        </p:nvPicPr>
        <p:blipFill>
          <a:blip r:embed="rId10"/>
          <a:stretch/>
        </p:blipFill>
        <p:spPr>
          <a:xfrm>
            <a:off x="992808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4" descr="sigla utm fff"/>
          <p:cNvPicPr/>
          <p:nvPr/>
        </p:nvPicPr>
        <p:blipFill>
          <a:blip r:embed="rId11"/>
          <a:stretch/>
        </p:blipFill>
        <p:spPr>
          <a:xfrm>
            <a:off x="1137492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62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63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65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7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8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9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16E247-C227-4007-AD68-3D400C69113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04800" y="1498680"/>
            <a:ext cx="1098180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72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73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75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dt" idx="10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11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12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5ECA0E-69B5-4370-BF5E-1FF7E49E172C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82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83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85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dt" idx="13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ftr" idx="14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sldNum" idx="15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107BBC-F815-401F-963E-A11EFEF4EA80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04800" y="1506600"/>
            <a:ext cx="514008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body"/>
          </p:nvPr>
        </p:nvSpPr>
        <p:spPr>
          <a:xfrm>
            <a:off x="6095880" y="1506600"/>
            <a:ext cx="549072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93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94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96" name="TextBox 2"/>
          <p:cNvSpPr/>
          <p:nvPr/>
        </p:nvSpPr>
        <p:spPr>
          <a:xfrm>
            <a:off x="7210440" y="600120"/>
            <a:ext cx="3035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2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99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100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102" name="TextBox 2"/>
          <p:cNvSpPr/>
          <p:nvPr/>
        </p:nvSpPr>
        <p:spPr>
          <a:xfrm>
            <a:off x="7210440" y="600120"/>
            <a:ext cx="303588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43;p4"/>
          <p:cNvSpPr/>
          <p:nvPr/>
        </p:nvSpPr>
        <p:spPr>
          <a:xfrm>
            <a:off x="254880" y="262800"/>
            <a:ext cx="11682720" cy="6332040"/>
          </a:xfrm>
          <a:prstGeom prst="rect">
            <a:avLst/>
          </a:prstGeom>
          <a:solidFill>
            <a:srgbClr val="a8d8e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04" name="Google Shape;44;p4"/>
          <p:cNvSpPr/>
          <p:nvPr/>
        </p:nvSpPr>
        <p:spPr>
          <a:xfrm>
            <a:off x="0" y="0"/>
            <a:ext cx="12191760" cy="2334960"/>
          </a:xfrm>
          <a:prstGeom prst="rect">
            <a:avLst/>
          </a:prstGeom>
          <a:solidFill>
            <a:srgbClr val="a9d7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Google Shape;47;p4"/>
          <p:cNvCxnSpPr/>
          <p:nvPr/>
        </p:nvCxnSpPr>
        <p:spPr>
          <a:xfrm>
            <a:off x="0" y="2176200"/>
            <a:ext cx="1219212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108" name="PlaceHolder 3"/>
          <p:cNvSpPr>
            <a:spLocks noGrp="1"/>
          </p:cNvSpPr>
          <p:nvPr>
            <p:ph type="dt" idx="16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17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18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6EE304-4C37-4481-BBC9-411AE36086D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Google Shape;23;p2"/>
          <p:cNvSpPr/>
          <p:nvPr/>
        </p:nvSpPr>
        <p:spPr>
          <a:xfrm>
            <a:off x="0" y="325800"/>
            <a:ext cx="12191760" cy="6818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12" name="Google Shape;25;p2"/>
          <p:cNvSpPr/>
          <p:nvPr/>
        </p:nvSpPr>
        <p:spPr>
          <a:xfrm>
            <a:off x="0" y="201240"/>
            <a:ext cx="12191760" cy="17640"/>
          </a:xfrm>
          <a:prstGeom prst="rect">
            <a:avLst/>
          </a:prstGeom>
          <a:solidFill>
            <a:srgbClr val="0055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pic>
        <p:nvPicPr>
          <p:cNvPr id="113" name="Picture 2" descr="Universitatea Tehnică A Moldovei"/>
          <p:cNvPicPr/>
          <p:nvPr/>
        </p:nvPicPr>
        <p:blipFill>
          <a:blip r:embed="rId2"/>
          <a:stretch/>
        </p:blipFill>
        <p:spPr>
          <a:xfrm>
            <a:off x="37224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4" descr="sigla utm fff"/>
          <p:cNvPicPr/>
          <p:nvPr/>
        </p:nvPicPr>
        <p:blipFill>
          <a:blip r:embed="rId3"/>
          <a:stretch/>
        </p:blipFill>
        <p:spPr>
          <a:xfrm>
            <a:off x="181908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2" descr="Universitatea Tehnică A Moldovei"/>
          <p:cNvPicPr/>
          <p:nvPr/>
        </p:nvPicPr>
        <p:blipFill>
          <a:blip r:embed="rId4"/>
          <a:stretch/>
        </p:blipFill>
        <p:spPr>
          <a:xfrm>
            <a:off x="276120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4" descr="sigla utm fff"/>
          <p:cNvPicPr/>
          <p:nvPr/>
        </p:nvPicPr>
        <p:blipFill>
          <a:blip r:embed="rId5"/>
          <a:stretch/>
        </p:blipFill>
        <p:spPr>
          <a:xfrm>
            <a:off x="420804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2" descr="Universitatea Tehnică A Moldovei"/>
          <p:cNvPicPr/>
          <p:nvPr/>
        </p:nvPicPr>
        <p:blipFill>
          <a:blip r:embed="rId6"/>
          <a:stretch/>
        </p:blipFill>
        <p:spPr>
          <a:xfrm>
            <a:off x="515016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4" descr="sigla utm fff"/>
          <p:cNvPicPr/>
          <p:nvPr/>
        </p:nvPicPr>
        <p:blipFill>
          <a:blip r:embed="rId7"/>
          <a:stretch/>
        </p:blipFill>
        <p:spPr>
          <a:xfrm>
            <a:off x="659700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2" descr="Universitatea Tehnică A Moldovei"/>
          <p:cNvPicPr/>
          <p:nvPr/>
        </p:nvPicPr>
        <p:blipFill>
          <a:blip r:embed="rId8"/>
          <a:stretch/>
        </p:blipFill>
        <p:spPr>
          <a:xfrm>
            <a:off x="753912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4" descr="sigla utm fff"/>
          <p:cNvPicPr/>
          <p:nvPr/>
        </p:nvPicPr>
        <p:blipFill>
          <a:blip r:embed="rId9"/>
          <a:stretch/>
        </p:blipFill>
        <p:spPr>
          <a:xfrm>
            <a:off x="898596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2" descr="Universitatea Tehnică A Moldovei"/>
          <p:cNvPicPr/>
          <p:nvPr/>
        </p:nvPicPr>
        <p:blipFill>
          <a:blip r:embed="rId10"/>
          <a:stretch/>
        </p:blipFill>
        <p:spPr>
          <a:xfrm>
            <a:off x="9928080" y="347760"/>
            <a:ext cx="107064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4" descr="sigla utm fff"/>
          <p:cNvPicPr/>
          <p:nvPr/>
        </p:nvPicPr>
        <p:blipFill>
          <a:blip r:embed="rId11"/>
          <a:stretch/>
        </p:blipFill>
        <p:spPr>
          <a:xfrm>
            <a:off x="11374920" y="383760"/>
            <a:ext cx="565920" cy="565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0;p1"/>
          <p:cNvSpPr/>
          <p:nvPr/>
        </p:nvSpPr>
        <p:spPr>
          <a:xfrm>
            <a:off x="255960" y="265320"/>
            <a:ext cx="11682720" cy="6332040"/>
          </a:xfrm>
          <a:prstGeom prst="rect">
            <a:avLst/>
          </a:prstGeom>
          <a:solidFill>
            <a:srgbClr val="a9d7d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cxnSp>
        <p:nvCxnSpPr>
          <p:cNvPr id="124" name="Google Shape;16;p1"/>
          <p:cNvCxnSpPr/>
          <p:nvPr/>
        </p:nvCxnSpPr>
        <p:spPr>
          <a:xfrm>
            <a:off x="604080" y="1196280"/>
            <a:ext cx="10983600" cy="360"/>
          </a:xfrm>
          <a:prstGeom prst="straightConnector1">
            <a:avLst/>
          </a:prstGeom>
          <a:ln w="25400">
            <a:solidFill>
              <a:srgbClr val="005589"/>
            </a:solidFill>
            <a:miter/>
          </a:ln>
        </p:spPr>
      </p:cxnSp>
      <p:sp>
        <p:nvSpPr>
          <p:cNvPr id="125" name="Google Shape;18;p1"/>
          <p:cNvSpPr/>
          <p:nvPr/>
        </p:nvSpPr>
        <p:spPr>
          <a:xfrm>
            <a:off x="10313280" y="628200"/>
            <a:ext cx="13111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Chi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ș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ă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u, Moldova</a:t>
            </a:r>
            <a:br>
              <a:rPr sz="1100"/>
            </a:b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14-16 Mai,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 202</a:t>
            </a:r>
            <a:r>
              <a:rPr b="1" lang="ro-RO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" name="Google Shape;29;p2"/>
          <p:cNvCxnSpPr/>
          <p:nvPr/>
        </p:nvCxnSpPr>
        <p:spPr>
          <a:xfrm>
            <a:off x="10275120" y="611280"/>
            <a:ext cx="360" cy="470160"/>
          </a:xfrm>
          <a:prstGeom prst="straightConnector1">
            <a:avLst/>
          </a:prstGeom>
          <a:ln w="19050">
            <a:solidFill>
              <a:srgbClr val="005589"/>
            </a:solidFill>
            <a:miter/>
          </a:ln>
        </p:spPr>
      </p:cxnSp>
      <p:sp>
        <p:nvSpPr>
          <p:cNvPr id="127" name="TextBox 2"/>
          <p:cNvSpPr/>
          <p:nvPr/>
        </p:nvSpPr>
        <p:spPr>
          <a:xfrm>
            <a:off x="7210440" y="600120"/>
            <a:ext cx="303588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4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Conferința tehnico-științifică</a:t>
            </a:r>
            <a:br>
              <a:rPr sz="1200"/>
            </a:br>
            <a:r>
              <a:rPr b="1" lang="en-US" sz="12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a </a:t>
            </a:r>
            <a:r>
              <a:rPr b="1" lang="en-US" sz="11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Arial"/>
              </a:rPr>
              <a:t>studenților, masteranzilor și doctoranzilor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dt" idx="19"/>
          </p:nvPr>
        </p:nvSpPr>
        <p:spPr>
          <a:xfrm>
            <a:off x="60444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ftr" idx="20"/>
          </p:nvPr>
        </p:nvSpPr>
        <p:spPr>
          <a:xfrm>
            <a:off x="4038480" y="63100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21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9DE609-19C1-4C24-9E2B-CBE720723152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604800" y="1498680"/>
            <a:ext cx="1098180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523880" y="1333440"/>
            <a:ext cx="9143640" cy="22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>
              <a:spcBef>
                <a:spcPts val="601"/>
              </a:spcBef>
              <a:buNone/>
            </a:pPr>
            <a:r>
              <a:rPr b="1" lang="ro-RO" sz="48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ANALIZA EFICIENȚEI LAYOUT-URILOR DE TASTATURĂ</a:t>
            </a:r>
            <a:endParaRPr b="1" lang="ro-RO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1523880" y="3598920"/>
            <a:ext cx="9143640" cy="13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Cătălin PLEȘU, </a:t>
            </a: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Departamentul Ingineria Software și Automatică, grupa TI-241M, Facultatea Calculatoare, Informatică și Microelectronică, Universitatea Tehnică a Moldovei, Chișinău, Republica Moldova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ro-RO" sz="3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Introducere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Analiza eficienței layout-urilor de tastatură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Layout-uri: QWERTY (1873), Colemak, Dvorak, Workman, Norman, Asset, Minimak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Scop: Verificarea dacă popularitatea layout-ului QWERTY este justificată, prin analiza eficienței acestuia comparativ cu alte layout-uri, pe baza distanței parcurse de degete în timpul tastării.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22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E9E78E-A518-4668-80B3-E615536E889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2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1" lang="en-US" sz="2800" strike="noStrike" u="none">
              <a:solidFill>
                <a:srgbClr val="005589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23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1FF0B1-E242-4713-97FF-8921B9E5D5E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2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04800" y="1498680"/>
            <a:ext cx="1098180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Obiectivele cercetării</a:t>
            </a:r>
            <a:endParaRPr b="1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Compararea eficienței layout-urilor: QWERTY, Colemak, Dvorak, Workman, Norman, Asset, Minimak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Măsurarea distanței parcurse de degete pentru fiecare layout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Analiza distribuției încărcării între degete și mâini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Evaluarea dacă QWERTY este depășit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Metodologia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Layout-uri analizate: QWERTY, Colemak, Dvorak, Workman, Norman, Asset, Minimak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Corpus: Newsgroup 20 (72+ milioane caractere)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Parametri: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Distanța parcursă de degete (mm)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Distribuția apăsărilor între degete/mâini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Instrument: Notebook Jupyter (Python) pentru efectuarea calculelor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24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045791-32C6-4468-9266-6C219266A8F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3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Rezultate</a:t>
            </a:r>
            <a:endParaRPr b="1" lang="en-US" sz="3600" strike="noStrike" u="none">
              <a:solidFill>
                <a:srgbClr val="005589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25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EAC53-C2AA-4CEA-A73E-76D3AAFD1C8C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4419360" y="2056320"/>
            <a:ext cx="7167240" cy="357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04800" y="1506600"/>
            <a:ext cx="3433320" cy="46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COLEMAK – 1,146.36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ASSET – 1,154.90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WORKMAN – 1,160.91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NORMAN – 1,161.42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DVORAK – 1,171.71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MINIMAK – 1,196.62 km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40644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QWERTY – 1,517.01 km 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4440" y="448560"/>
            <a:ext cx="10982880" cy="74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2800" strike="noStrike" u="none">
                <a:solidFill>
                  <a:srgbClr val="005589"/>
                </a:solidFill>
                <a:effectLst/>
                <a:uFillTx/>
                <a:latin typeface="Quattrocento Sans"/>
              </a:rPr>
              <a:t>Harta termică </a:t>
            </a:r>
            <a:endParaRPr b="1" lang="en-US" sz="2800" strike="noStrike" u="none">
              <a:solidFill>
                <a:srgbClr val="005589"/>
              </a:solidFill>
              <a:effectLst/>
              <a:uFillTx/>
              <a:latin typeface="Quattrocento Sans"/>
              <a:ea typeface="Quattrocento San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26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E560A9-1154-46C9-9D55-10DD18EBBCA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604440" y="1267920"/>
            <a:ext cx="5366880" cy="520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6324840" y="1267920"/>
            <a:ext cx="5262480" cy="520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Discuție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Implicații: Layout-urile moderne (în special Colemak) reduc efortul și riscul de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leziuni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Limitări: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Analiza bazată pe corpus în engleză; teste cu utilizatori reali lipsesc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Nu se iau în considerare comenzi speciale (e.g., Ctrl, Alt, Shift) și acuratețea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de scriere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Recomandare: Promovarea layout-urilor ergonomice în educație și design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27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435A8A-6E28-48FA-BD15-69F3138A25D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21280" y="1536120"/>
            <a:ext cx="68760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ro-RO" sz="3600" strike="noStrike" u="none">
                <a:solidFill>
                  <a:srgbClr val="005589"/>
                </a:solidFill>
                <a:effectLst/>
                <a:uFillTx/>
                <a:latin typeface="Quattrocento Sans"/>
                <a:ea typeface="Quattrocento Sans"/>
              </a:rPr>
              <a:t>Concluzii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4440" y="2560320"/>
            <a:ext cx="10982880" cy="36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QWERTY este ineficient: 32% mai mult efort și distanță față de Colemak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Layout-urile moderne (e.g., Colemak, Dvorak) sunt superioare ergonomic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3f3f3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Recomandare: Adoptați layout-uri ergonomice pentru sănătate și productivitate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28"/>
          </p:nvPr>
        </p:nvSpPr>
        <p:spPr>
          <a:xfrm>
            <a:off x="8844480" y="63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2679CA-85FC-4788-A718-C9CBD5A4F77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TS SMD (UTM)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LibreOffice/25.2.2.2$Linux_X86_64 LibreOffice_project/520$Build-2</Application>
  <AppVersion>15.0000</AppVersion>
  <Words>29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2025-05-15T08:35:34Z</dcterms:modified>
  <cp:revision>46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